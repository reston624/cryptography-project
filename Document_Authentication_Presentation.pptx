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59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1B2A3B">
              <a:alpha val="70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256032"/>
            <a:ext cx="694944" cy="694944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6576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Document Authentication System</a:t>
            </a:r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Using Digital Signatures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7772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633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University in Egypt  |  Faculty of Computers &amp; IT  |  Cybersecurity Department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Mohamed · 20231160
Talal Yousif · 20236211
Ahmed Ashraf · 20232630
Ehab Abdelaziz · 20233068
Yousif Montasser · 20236209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4D8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10110101  00111010  11001101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4D8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01001110  11010011  00110101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4D8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10110101  00111010  11001101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4D8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01001110  11010011  00110101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4D8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10110101  00111010  11001101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 &amp; Learning 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127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087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Components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170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1207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Verification Workflow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130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2167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Package Format</a:t>
            </a:r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3127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Test Results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3931920" cy="7772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4087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 &amp; 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996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Design &amp; implement a document authentication system</a:t>
            </a:r>
          </a:p>
        </p:txBody>
      </p:sp>
      <p:sp>
        <p:nvSpPr>
          <p:cNvPr id="8" name="Shape 6"/>
          <p:cNvSpPr/>
          <p:nvPr/>
        </p:nvSpPr>
        <p:spPr>
          <a:xfrm>
            <a:off x="566928" y="21671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1122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Uses SHA-256 hashing and RSA digital signatures</a:t>
            </a:r>
          </a:p>
        </p:txBody>
      </p:sp>
      <p:sp>
        <p:nvSpPr>
          <p:cNvPr id="10" name="Shape 8"/>
          <p:cNvSpPr/>
          <p:nvPr/>
        </p:nvSpPr>
        <p:spPr>
          <a:xfrm>
            <a:off x="566928" y="277977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7249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Proves integrity, authentication, and non-repudiation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" y="33924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3375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Keeps documents readable; no encryption required</a:t>
            </a:r>
          </a:p>
        </p:txBody>
      </p:sp>
      <p:sp>
        <p:nvSpPr>
          <p:cNvPr id="14" name="Shape 12"/>
          <p:cNvSpPr/>
          <p:nvPr/>
        </p:nvSpPr>
        <p:spPr>
          <a:xfrm>
            <a:off x="566928" y="40050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95020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Verifies documents after signing</a:t>
            </a:r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4389120" cy="37490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517904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1947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Understand hashing vs. encryption</a:t>
            </a: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039112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19472" y="2002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Generate and manage separate user key pairs</a:t>
            </a: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56032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19472" y="2523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Implement digital signing and verification</a:t>
            </a: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08152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19472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Detect document, signer, and signature tampering</a:t>
            </a: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60273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19472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Reason about trust assumptions and key compromise</a:t>
            </a: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12394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19472" y="4087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Explain why confidentiality is not a project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70332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15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Capabilities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1664208"/>
            <a:ext cx="3429000" cy="420624"/>
          </a:xfrm>
          <a:prstGeom prst="rect">
            <a:avLst/>
          </a:prstGeom>
          <a:solidFill>
            <a:srgbClr val="1A2C3D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719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Can modify or replace documents</a:t>
            </a:r>
          </a:p>
        </p:txBody>
      </p:sp>
      <p:sp>
        <p:nvSpPr>
          <p:cNvPr id="9" name="Shape 6"/>
          <p:cNvSpPr/>
          <p:nvPr/>
        </p:nvSpPr>
        <p:spPr>
          <a:xfrm>
            <a:off x="566928" y="2249424"/>
            <a:ext cx="3429000" cy="420624"/>
          </a:xfrm>
          <a:prstGeom prst="rect">
            <a:avLst/>
          </a:prstGeom>
          <a:solidFill>
            <a:srgbClr val="1A2C3D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2304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Can alter the signature package</a:t>
            </a:r>
          </a:p>
        </p:txBody>
      </p:sp>
      <p:sp>
        <p:nvSpPr>
          <p:cNvPr id="11" name="Shape 8"/>
          <p:cNvSpPr/>
          <p:nvPr/>
        </p:nvSpPr>
        <p:spPr>
          <a:xfrm>
            <a:off x="566928" y="2834640"/>
            <a:ext cx="3429000" cy="420624"/>
          </a:xfrm>
          <a:prstGeom prst="rect">
            <a:avLst/>
          </a:prstGeom>
          <a:solidFill>
            <a:srgbClr val="1A2C3D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Cannot access private signing keys directly</a:t>
            </a:r>
          </a:p>
        </p:txBody>
      </p:sp>
      <p:sp>
        <p:nvSpPr>
          <p:cNvPr id="13" name="Shape 10"/>
          <p:cNvSpPr/>
          <p:nvPr/>
        </p:nvSpPr>
        <p:spPr>
          <a:xfrm>
            <a:off x="566928" y="3419856"/>
            <a:ext cx="3429000" cy="420624"/>
          </a:xfrm>
          <a:prstGeom prst="rect">
            <a:avLst/>
          </a:prstGeom>
          <a:solidFill>
            <a:srgbClr val="1A2C3D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474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May try to forge a signature</a:t>
            </a:r>
          </a:p>
        </p:txBody>
      </p:sp>
      <p:sp>
        <p:nvSpPr>
          <p:cNvPr id="15" name="Shape 12"/>
          <p:cNvSpPr/>
          <p:nvPr/>
        </p:nvSpPr>
        <p:spPr>
          <a:xfrm>
            <a:off x="566928" y="4005072"/>
            <a:ext cx="3429000" cy="420624"/>
          </a:xfrm>
          <a:prstGeom prst="rect">
            <a:avLst/>
          </a:prstGeom>
          <a:solidFill>
            <a:srgbClr val="1A2C3D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40599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May claim false authorship</a:t>
            </a:r>
          </a:p>
        </p:txBody>
      </p:sp>
      <p:sp>
        <p:nvSpPr>
          <p:cNvPr id="17" name="Shape 14"/>
          <p:cNvSpPr/>
          <p:nvPr/>
        </p:nvSpPr>
        <p:spPr>
          <a:xfrm>
            <a:off x="4434840" y="960120"/>
            <a:ext cx="4343400" cy="370332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0515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Goals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617720" y="1664208"/>
            <a:ext cx="3977640" cy="804672"/>
          </a:xfrm>
          <a:prstGeom prst="rect">
            <a:avLst/>
          </a:prstGeom>
          <a:solidFill>
            <a:srgbClr val="1A2C3D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617720" y="1664208"/>
            <a:ext cx="9144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73168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Integrity</a:t>
            </a:r>
          </a:p>
        </p:txBody>
      </p:sp>
      <p:sp>
        <p:nvSpPr>
          <p:cNvPr id="23" name="Text 19"/>
          <p:cNvSpPr/>
          <p:nvPr/>
        </p:nvSpPr>
        <p:spPr>
          <a:xfrm>
            <a:off x="4773168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Any document change is detected</a:t>
            </a:r>
          </a:p>
        </p:txBody>
      </p:sp>
      <p:sp>
        <p:nvSpPr>
          <p:cNvPr id="24" name="Shape 20"/>
          <p:cNvSpPr/>
          <p:nvPr/>
        </p:nvSpPr>
        <p:spPr>
          <a:xfrm>
            <a:off x="4617720" y="2633472"/>
            <a:ext cx="3977640" cy="804672"/>
          </a:xfrm>
          <a:prstGeom prst="rect">
            <a:avLst/>
          </a:prstGeom>
          <a:solidFill>
            <a:srgbClr val="1A2C3D"/>
          </a:solidFill>
          <a:ln w="1524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617720" y="2633472"/>
            <a:ext cx="91440" cy="80467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773168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Authentication</a:t>
            </a:r>
          </a:p>
        </p:txBody>
      </p:sp>
      <p:sp>
        <p:nvSpPr>
          <p:cNvPr id="27" name="Text 23"/>
          <p:cNvSpPr/>
          <p:nvPr/>
        </p:nvSpPr>
        <p:spPr>
          <a:xfrm>
            <a:off x="4773168" y="29809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Signer identity is checked with public key</a:t>
            </a:r>
          </a:p>
        </p:txBody>
      </p:sp>
      <p:sp>
        <p:nvSpPr>
          <p:cNvPr id="28" name="Shape 24"/>
          <p:cNvSpPr/>
          <p:nvPr/>
        </p:nvSpPr>
        <p:spPr>
          <a:xfrm>
            <a:off x="4617720" y="3602736"/>
            <a:ext cx="3977640" cy="804672"/>
          </a:xfrm>
          <a:prstGeom prst="rect">
            <a:avLst/>
          </a:prstGeom>
          <a:solidFill>
            <a:srgbClr val="1A2C3D"/>
          </a:solidFill>
          <a:ln w="1524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617720" y="3602736"/>
            <a:ext cx="91440" cy="8046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773168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Non-repudiation</a:t>
            </a:r>
          </a:p>
        </p:txBody>
      </p:sp>
      <p:sp>
        <p:nvSpPr>
          <p:cNvPr id="31" name="Text 27"/>
          <p:cNvSpPr/>
          <p:nvPr/>
        </p:nvSpPr>
        <p:spPr>
          <a:xfrm>
            <a:off x="4773168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Private key holder cannot deny signing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System Architecture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2148840"/>
            <a:ext cx="1078992" cy="502920"/>
          </a:xfrm>
          <a:prstGeom prst="rect">
            <a:avLst/>
          </a:prstGeom>
          <a:solidFill>
            <a:srgbClr val="F5F5F5">
              <a:alpha val="30000"/>
            </a:srgbClr>
          </a:solidFill>
          <a:ln w="19050">
            <a:solidFill>
              <a:srgbClr val="F5F5F5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Document</a:t>
            </a:r>
          </a:p>
        </p:txBody>
      </p:sp>
      <p:sp>
        <p:nvSpPr>
          <p:cNvPr id="6" name="Shape 4"/>
          <p:cNvSpPr/>
          <p:nvPr/>
        </p:nvSpPr>
        <p:spPr>
          <a:xfrm>
            <a:off x="1435608" y="2400300"/>
            <a:ext cx="332842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713586" y="23362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05026" y="2148840"/>
            <a:ext cx="1078992" cy="502920"/>
          </a:xfrm>
          <a:prstGeom prst="rect">
            <a:avLst/>
          </a:prstGeom>
          <a:solidFill>
            <a:srgbClr val="00B4D8">
              <a:alpha val="5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805026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SHA-256 Hash</a:t>
            </a:r>
          </a:p>
        </p:txBody>
      </p:sp>
      <p:sp>
        <p:nvSpPr>
          <p:cNvPr id="10" name="Shape 8"/>
          <p:cNvSpPr/>
          <p:nvPr/>
        </p:nvSpPr>
        <p:spPr>
          <a:xfrm>
            <a:off x="2920594" y="2400300"/>
            <a:ext cx="332842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98571" y="23362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0011" y="2148840"/>
            <a:ext cx="1078992" cy="502920"/>
          </a:xfrm>
          <a:prstGeom prst="rect">
            <a:avLst/>
          </a:prstGeom>
          <a:solidFill>
            <a:srgbClr val="0096B7">
              <a:alpha val="50000"/>
            </a:srgbClr>
          </a:solidFill>
          <a:ln w="19050">
            <a:solidFill>
              <a:srgbClr val="0096B7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0011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Digest</a:t>
            </a:r>
          </a:p>
        </p:txBody>
      </p:sp>
      <p:sp>
        <p:nvSpPr>
          <p:cNvPr id="14" name="Shape 12"/>
          <p:cNvSpPr/>
          <p:nvPr/>
        </p:nvSpPr>
        <p:spPr>
          <a:xfrm>
            <a:off x="4405579" y="2400300"/>
            <a:ext cx="332842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83557" y="23362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74997" y="2148840"/>
            <a:ext cx="1078992" cy="502920"/>
          </a:xfrm>
          <a:prstGeom prst="rect">
            <a:avLst/>
          </a:prstGeom>
          <a:solidFill>
            <a:srgbClr val="FFB703">
              <a:alpha val="50000"/>
            </a:srgbClr>
          </a:solidFill>
          <a:ln w="19050">
            <a:solidFill>
              <a:srgbClr val="FFB703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74997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 with Private Key</a:t>
            </a:r>
          </a:p>
        </p:txBody>
      </p:sp>
      <p:sp>
        <p:nvSpPr>
          <p:cNvPr id="18" name="Shape 16"/>
          <p:cNvSpPr/>
          <p:nvPr/>
        </p:nvSpPr>
        <p:spPr>
          <a:xfrm>
            <a:off x="5890565" y="2400300"/>
            <a:ext cx="332842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8542" y="23362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59982" y="2148840"/>
            <a:ext cx="1078992" cy="502920"/>
          </a:xfrm>
          <a:prstGeom prst="rect">
            <a:avLst/>
          </a:prstGeom>
          <a:solidFill>
            <a:srgbClr val="00B4D8">
              <a:alpha val="5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59982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Public Key Directory</a:t>
            </a:r>
          </a:p>
        </p:txBody>
      </p:sp>
      <p:sp>
        <p:nvSpPr>
          <p:cNvPr id="22" name="Shape 20"/>
          <p:cNvSpPr/>
          <p:nvPr/>
        </p:nvSpPr>
        <p:spPr>
          <a:xfrm>
            <a:off x="7375550" y="2400300"/>
            <a:ext cx="332842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653528" y="2336292"/>
            <a:ext cx="54864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44968" y="2148840"/>
            <a:ext cx="1078992" cy="502920"/>
          </a:xfrm>
          <a:prstGeom prst="rect">
            <a:avLst/>
          </a:prstGeom>
          <a:solidFill>
            <a:srgbClr val="02C39A">
              <a:alpha val="50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4968" y="22219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Signed Package</a:t>
            </a:r>
          </a:p>
        </p:txBody>
      </p:sp>
      <p:sp>
        <p:nvSpPr>
          <p:cNvPr id="26" name="Text 24"/>
          <p:cNvSpPr/>
          <p:nvPr/>
        </p:nvSpPr>
        <p:spPr>
          <a:xfrm>
            <a:off x="32004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Input</a:t>
            </a:r>
          </a:p>
        </p:txBody>
      </p:sp>
      <p:sp>
        <p:nvSpPr>
          <p:cNvPr id="27" name="Text 25"/>
          <p:cNvSpPr/>
          <p:nvPr/>
        </p:nvSpPr>
        <p:spPr>
          <a:xfrm>
            <a:off x="219456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Integrity</a:t>
            </a:r>
          </a:p>
        </p:txBody>
      </p:sp>
      <p:sp>
        <p:nvSpPr>
          <p:cNvPr id="28" name="Text 26"/>
          <p:cNvSpPr/>
          <p:nvPr/>
        </p:nvSpPr>
        <p:spPr>
          <a:xfrm>
            <a:off x="406908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Digest</a:t>
            </a:r>
          </a:p>
        </p:txBody>
      </p:sp>
      <p:sp>
        <p:nvSpPr>
          <p:cNvPr id="29" name="Text 27"/>
          <p:cNvSpPr/>
          <p:nvPr/>
        </p:nvSpPr>
        <p:spPr>
          <a:xfrm>
            <a:off x="594360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00" dirty="0">
                <a:solidFill>
                  <a:schemeClr val="bg1">
                    <a:lumMod val="95000"/>
                  </a:schemeClr>
                </a:solidFill>
              </a:rPr>
              <a:t>Authenticati</a:t>
            </a:r>
            <a:r>
              <a:rPr lang="en-US" sz="1700" dirty="0">
                <a:solidFill>
                  <a:schemeClr val="bg1">
                    <a:lumMod val="95000"/>
                  </a:schemeClr>
                </a:solidFill>
              </a:rPr>
              <a:t>o</a:t>
            </a:r>
            <a:r>
              <a:rPr sz="1700" dirty="0">
                <a:solidFill>
                  <a:schemeClr val="bg1">
                    <a:lumMod val="95000"/>
                  </a:schemeClr>
                </a:solidFill>
              </a:rPr>
              <a:t>n</a:t>
            </a:r>
          </a:p>
        </p:txBody>
      </p:sp>
      <p:sp>
        <p:nvSpPr>
          <p:cNvPr id="30" name="Text 28"/>
          <p:cNvSpPr/>
          <p:nvPr/>
        </p:nvSpPr>
        <p:spPr>
          <a:xfrm>
            <a:off x="768096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Key Mgmt</a:t>
            </a:r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2743200" cy="14630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Why No Encryption?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The goal is trust, not secrecy. The document stays plaintext but becomes verifiable.</a:t>
            </a:r>
          </a:p>
        </p:txBody>
      </p:sp>
      <p:sp>
        <p:nvSpPr>
          <p:cNvPr id="34" name="Shape 32"/>
          <p:cNvSpPr/>
          <p:nvPr/>
        </p:nvSpPr>
        <p:spPr>
          <a:xfrm>
            <a:off x="3291840" y="3383280"/>
            <a:ext cx="2743200" cy="14630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42900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Why Hash Before Sign?</a:t>
            </a:r>
          </a:p>
        </p:txBody>
      </p:sp>
      <p:sp>
        <p:nvSpPr>
          <p:cNvPr id="36" name="Text 34"/>
          <p:cNvSpPr/>
          <p:nvPr/>
        </p:nvSpPr>
        <p:spPr>
          <a:xfrm>
            <a:off x="342900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Hashing compresses any file to 32 bytes, so RSA signs a small digest instead of a large file.</a:t>
            </a:r>
          </a:p>
        </p:txBody>
      </p:sp>
      <p:sp>
        <p:nvSpPr>
          <p:cNvPr id="37" name="Shape 35"/>
          <p:cNvSpPr/>
          <p:nvPr/>
        </p:nvSpPr>
        <p:spPr>
          <a:xfrm>
            <a:off x="6217920" y="3383280"/>
            <a:ext cx="2743200" cy="14630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Why RSA-PSS?</a:t>
            </a:r>
          </a:p>
        </p:txBody>
      </p:sp>
      <p:sp>
        <p:nvSpPr>
          <p:cNvPr id="39" name="Text 37"/>
          <p:cNvSpPr/>
          <p:nvPr/>
        </p:nvSpPr>
        <p:spPr>
          <a:xfrm>
            <a:off x="635508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RSA-PSS is a modern signature scheme. Private key signs; public key verifies.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Cryptographic Components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1993392" cy="384048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993392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" y="10241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SHA-256</a:t>
            </a:r>
          </a:p>
        </p:txBody>
      </p:sp>
      <p:sp>
        <p:nvSpPr>
          <p:cNvPr id="7" name="Text 5"/>
          <p:cNvSpPr/>
          <p:nvPr/>
        </p:nvSpPr>
        <p:spPr>
          <a:xfrm>
            <a:off x="420624" y="126187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Hash Function</a:t>
            </a:r>
          </a:p>
        </p:txBody>
      </p:sp>
      <p:sp>
        <p:nvSpPr>
          <p:cNvPr id="8" name="Shape 6"/>
          <p:cNvSpPr/>
          <p:nvPr/>
        </p:nvSpPr>
        <p:spPr>
          <a:xfrm>
            <a:off x="512064" y="173736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" y="168249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32-byte digest</a:t>
            </a:r>
          </a:p>
        </p:txBody>
      </p:sp>
      <p:sp>
        <p:nvSpPr>
          <p:cNvPr id="10" name="Shape 8"/>
          <p:cNvSpPr/>
          <p:nvPr/>
        </p:nvSpPr>
        <p:spPr>
          <a:xfrm>
            <a:off x="512064" y="24140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23591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Detects file changes</a:t>
            </a:r>
          </a:p>
        </p:txBody>
      </p:sp>
      <p:sp>
        <p:nvSpPr>
          <p:cNvPr id="12" name="Shape 10"/>
          <p:cNvSpPr/>
          <p:nvPr/>
        </p:nvSpPr>
        <p:spPr>
          <a:xfrm>
            <a:off x="512064" y="309067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" y="303580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Used before signing</a:t>
            </a:r>
          </a:p>
        </p:txBody>
      </p:sp>
      <p:sp>
        <p:nvSpPr>
          <p:cNvPr id="14" name="Shape 12"/>
          <p:cNvSpPr/>
          <p:nvPr/>
        </p:nvSpPr>
        <p:spPr>
          <a:xfrm>
            <a:off x="512064" y="37673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7512" y="371246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Works for any file type</a:t>
            </a:r>
          </a:p>
        </p:txBody>
      </p:sp>
      <p:sp>
        <p:nvSpPr>
          <p:cNvPr id="16" name="Shape 14"/>
          <p:cNvSpPr/>
          <p:nvPr/>
        </p:nvSpPr>
        <p:spPr>
          <a:xfrm>
            <a:off x="2505456" y="987552"/>
            <a:ext cx="1993392" cy="384048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05456" y="987552"/>
            <a:ext cx="1993392" cy="50292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78608" y="10241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RSA-PSS</a:t>
            </a:r>
          </a:p>
        </p:txBody>
      </p:sp>
      <p:sp>
        <p:nvSpPr>
          <p:cNvPr id="19" name="Text 17"/>
          <p:cNvSpPr/>
          <p:nvPr/>
        </p:nvSpPr>
        <p:spPr>
          <a:xfrm>
            <a:off x="2578608" y="126187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Digital Signature</a:t>
            </a:r>
          </a:p>
        </p:txBody>
      </p:sp>
      <p:sp>
        <p:nvSpPr>
          <p:cNvPr id="20" name="Shape 18"/>
          <p:cNvSpPr/>
          <p:nvPr/>
        </p:nvSpPr>
        <p:spPr>
          <a:xfrm>
            <a:off x="2670048" y="1737360"/>
            <a:ext cx="91440" cy="914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25496" y="168249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2048-bit RSA keys</a:t>
            </a:r>
          </a:p>
        </p:txBody>
      </p:sp>
      <p:sp>
        <p:nvSpPr>
          <p:cNvPr id="22" name="Shape 20"/>
          <p:cNvSpPr/>
          <p:nvPr/>
        </p:nvSpPr>
        <p:spPr>
          <a:xfrm>
            <a:off x="2670048" y="2414016"/>
            <a:ext cx="91440" cy="914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25496" y="23591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Private key signs</a:t>
            </a:r>
          </a:p>
        </p:txBody>
      </p:sp>
      <p:sp>
        <p:nvSpPr>
          <p:cNvPr id="24" name="Shape 22"/>
          <p:cNvSpPr/>
          <p:nvPr/>
        </p:nvSpPr>
        <p:spPr>
          <a:xfrm>
            <a:off x="2670048" y="3090672"/>
            <a:ext cx="91440" cy="914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25496" y="303580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Public key verifies</a:t>
            </a:r>
          </a:p>
        </p:txBody>
      </p:sp>
      <p:sp>
        <p:nvSpPr>
          <p:cNvPr id="26" name="Shape 24"/>
          <p:cNvSpPr/>
          <p:nvPr/>
        </p:nvSpPr>
        <p:spPr>
          <a:xfrm>
            <a:off x="2670048" y="3767328"/>
            <a:ext cx="91440" cy="914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825496" y="371246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Prevents forgery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987552"/>
            <a:ext cx="1993392" cy="384048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987552"/>
            <a:ext cx="1993392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36592" y="10241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Key Pairs</a:t>
            </a:r>
          </a:p>
        </p:txBody>
      </p:sp>
      <p:sp>
        <p:nvSpPr>
          <p:cNvPr id="31" name="Text 29"/>
          <p:cNvSpPr/>
          <p:nvPr/>
        </p:nvSpPr>
        <p:spPr>
          <a:xfrm>
            <a:off x="4736592" y="126187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Key Management</a:t>
            </a:r>
          </a:p>
        </p:txBody>
      </p:sp>
      <p:sp>
        <p:nvSpPr>
          <p:cNvPr id="32" name="Shape 30"/>
          <p:cNvSpPr/>
          <p:nvPr/>
        </p:nvSpPr>
        <p:spPr>
          <a:xfrm>
            <a:off x="4828032" y="173736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83480" y="168249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One pair per user</a:t>
            </a:r>
          </a:p>
        </p:txBody>
      </p:sp>
      <p:sp>
        <p:nvSpPr>
          <p:cNvPr id="34" name="Shape 32"/>
          <p:cNvSpPr/>
          <p:nvPr/>
        </p:nvSpPr>
        <p:spPr>
          <a:xfrm>
            <a:off x="4828032" y="241401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83480" y="23591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Public keys are shared</a:t>
            </a:r>
          </a:p>
        </p:txBody>
      </p:sp>
      <p:sp>
        <p:nvSpPr>
          <p:cNvPr id="36" name="Shape 34"/>
          <p:cNvSpPr/>
          <p:nvPr/>
        </p:nvSpPr>
        <p:spPr>
          <a:xfrm>
            <a:off x="4828032" y="309067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83480" y="303580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Private keys stay secret</a:t>
            </a:r>
          </a:p>
        </p:txBody>
      </p:sp>
      <p:sp>
        <p:nvSpPr>
          <p:cNvPr id="38" name="Shape 36"/>
          <p:cNvSpPr/>
          <p:nvPr/>
        </p:nvSpPr>
        <p:spPr>
          <a:xfrm>
            <a:off x="4828032" y="376732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83480" y="371246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Replace keys if compromised</a:t>
            </a:r>
          </a:p>
        </p:txBody>
      </p:sp>
      <p:sp>
        <p:nvSpPr>
          <p:cNvPr id="40" name="Shape 38"/>
          <p:cNvSpPr/>
          <p:nvPr/>
        </p:nvSpPr>
        <p:spPr>
          <a:xfrm>
            <a:off x="6821424" y="987552"/>
            <a:ext cx="1993392" cy="384048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21424" y="987552"/>
            <a:ext cx="1993392" cy="502920"/>
          </a:xfrm>
          <a:prstGeom prst="rect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Signed Document Format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94576" y="10241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94576" y="1261872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986016" y="1737360"/>
            <a:ext cx="91440" cy="914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141464" y="168249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remains plaintext</a:t>
            </a:r>
          </a:p>
        </p:txBody>
      </p:sp>
      <p:sp>
        <p:nvSpPr>
          <p:cNvPr id="46" name="Shape 44"/>
          <p:cNvSpPr/>
          <p:nvPr/>
        </p:nvSpPr>
        <p:spPr>
          <a:xfrm>
            <a:off x="6986016" y="2414016"/>
            <a:ext cx="91440" cy="914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7141464" y="23591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Stores signer ID</a:t>
            </a:r>
          </a:p>
        </p:txBody>
      </p:sp>
      <p:sp>
        <p:nvSpPr>
          <p:cNvPr id="48" name="Shape 46"/>
          <p:cNvSpPr/>
          <p:nvPr/>
        </p:nvSpPr>
        <p:spPr>
          <a:xfrm>
            <a:off x="6986016" y="3090672"/>
            <a:ext cx="91440" cy="914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41464" y="303580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Stores signature value</a:t>
            </a:r>
          </a:p>
        </p:txBody>
      </p:sp>
      <p:sp>
        <p:nvSpPr>
          <p:cNvPr id="50" name="Shape 48"/>
          <p:cNvSpPr/>
          <p:nvPr/>
        </p:nvSpPr>
        <p:spPr>
          <a:xfrm>
            <a:off x="6986016" y="3767328"/>
            <a:ext cx="91440" cy="914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7141464" y="371246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Includes algorithm 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Signing Workflow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" y="12801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70432" y="1078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Select Document D</a:t>
            </a:r>
          </a:p>
        </p:txBody>
      </p:sp>
      <p:sp>
        <p:nvSpPr>
          <p:cNvPr id="8" name="Text 6"/>
          <p:cNvSpPr/>
          <p:nvPr/>
        </p:nvSpPr>
        <p:spPr>
          <a:xfrm>
            <a:off x="1170432" y="14630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Any file can be signed: text, PDF, image, etc.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19472" y="12801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1947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59552" y="1078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Compute h = SHA-256(D)</a:t>
            </a:r>
          </a:p>
        </p:txBody>
      </p:sp>
      <p:sp>
        <p:nvSpPr>
          <p:cNvPr id="13" name="Text 11"/>
          <p:cNvSpPr/>
          <p:nvPr/>
        </p:nvSpPr>
        <p:spPr>
          <a:xfrm>
            <a:off x="5559552" y="14630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Hash represents the exact document bytes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0352" y="2578608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 = Sign(h, private_key)</a:t>
            </a:r>
          </a:p>
        </p:txBody>
      </p:sp>
      <p:sp>
        <p:nvSpPr>
          <p:cNvPr id="18" name="Text 16"/>
          <p:cNvSpPr/>
          <p:nvPr/>
        </p:nvSpPr>
        <p:spPr>
          <a:xfrm>
            <a:off x="1170432" y="27614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RSA-PSS signature using the signer's private key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19472" y="257860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1947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59552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Add Signer Metadata</a:t>
            </a:r>
          </a:p>
        </p:txBody>
      </p:sp>
      <p:sp>
        <p:nvSpPr>
          <p:cNvPr id="23" name="Text 21"/>
          <p:cNvSpPr/>
          <p:nvPr/>
        </p:nvSpPr>
        <p:spPr>
          <a:xfrm>
            <a:off x="5559552" y="27614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Signer ID, algorithm info, and timestamp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584448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0352" y="3877056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" y="3904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70432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Build Signed Package</a:t>
            </a:r>
          </a:p>
        </p:txBody>
      </p:sp>
      <p:sp>
        <p:nvSpPr>
          <p:cNvPr id="28" name="Text 26"/>
          <p:cNvSpPr/>
          <p:nvPr/>
        </p:nvSpPr>
        <p:spPr>
          <a:xfrm>
            <a:off x="1170432" y="40599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Store document + signature + signer ID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19472" y="3877056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19472" y="3904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59552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Keep Document Plaintext</a:t>
            </a:r>
          </a:p>
        </p:txBody>
      </p:sp>
      <p:sp>
        <p:nvSpPr>
          <p:cNvPr id="33" name="Text 31"/>
          <p:cNvSpPr/>
          <p:nvPr/>
        </p:nvSpPr>
        <p:spPr>
          <a:xfrm>
            <a:off x="5559552" y="40599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No encryption is needed for authentication</a:t>
            </a:r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Output: { Document, Signature, Signer ID, Algorithm Info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Verification Workflow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" y="12801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70432" y="1078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Read Signed Package</a:t>
            </a:r>
          </a:p>
        </p:txBody>
      </p:sp>
      <p:sp>
        <p:nvSpPr>
          <p:cNvPr id="8" name="Text 6"/>
          <p:cNvSpPr/>
          <p:nvPr/>
        </p:nvSpPr>
        <p:spPr>
          <a:xfrm>
            <a:off x="1170432" y="14630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Extract document, signature, and signer ID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19472" y="1280160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1947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59552" y="1078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Recompute h' = SHA-256(D)</a:t>
            </a:r>
          </a:p>
        </p:txBody>
      </p:sp>
      <p:sp>
        <p:nvSpPr>
          <p:cNvPr id="13" name="Text 11"/>
          <p:cNvSpPr/>
          <p:nvPr/>
        </p:nvSpPr>
        <p:spPr>
          <a:xfrm>
            <a:off x="5559552" y="14630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Verifier hashes the received document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0352" y="257860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Load Signer's Public Key</a:t>
            </a:r>
          </a:p>
        </p:txBody>
      </p:sp>
      <p:sp>
        <p:nvSpPr>
          <p:cNvPr id="18" name="Text 16"/>
          <p:cNvSpPr/>
          <p:nvPr/>
        </p:nvSpPr>
        <p:spPr>
          <a:xfrm>
            <a:off x="1170432" y="27614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Public key is selected using signer ID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19472" y="257860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19472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59552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Verify(sig, h', public_key)</a:t>
            </a:r>
          </a:p>
        </p:txBody>
      </p:sp>
      <p:sp>
        <p:nvSpPr>
          <p:cNvPr id="23" name="Text 21"/>
          <p:cNvSpPr/>
          <p:nvPr/>
        </p:nvSpPr>
        <p:spPr>
          <a:xfrm>
            <a:off x="5559552" y="27614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RSA-PSS checks signature against new hash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584448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0352" y="3877056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" y="3904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70432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Accept Only If Valid</a:t>
            </a:r>
          </a:p>
        </p:txBody>
      </p:sp>
      <p:sp>
        <p:nvSpPr>
          <p:cNvPr id="28" name="Text 26"/>
          <p:cNvSpPr/>
          <p:nvPr/>
        </p:nvSpPr>
        <p:spPr>
          <a:xfrm>
            <a:off x="1170432" y="40599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is authentic and unchanged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69080" cy="111556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19472" y="3877056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19472" y="3904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59552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Reject Securely</a:t>
            </a:r>
          </a:p>
        </p:txBody>
      </p:sp>
      <p:sp>
        <p:nvSpPr>
          <p:cNvPr id="33" name="Text 31"/>
          <p:cNvSpPr/>
          <p:nvPr/>
        </p:nvSpPr>
        <p:spPr>
          <a:xfrm>
            <a:off x="5559552" y="40599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Wrong document, wrong key, or changed signature fails</a:t>
            </a:r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Valid Signature -&gt; Accepted     Invalid Signature -&gt; Rejected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Signed Document Package Format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93192"/>
          </a:xfrm>
          <a:prstGeom prst="rect">
            <a:avLst/>
          </a:prstGeom>
          <a:solidFill>
            <a:srgbClr val="1B2A3B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Format</a:t>
            </a:r>
          </a:p>
        </p:txBody>
      </p:sp>
      <p:sp>
        <p:nvSpPr>
          <p:cNvPr id="7" name="Text 5"/>
          <p:cNvSpPr/>
          <p:nvPr/>
        </p:nvSpPr>
        <p:spPr>
          <a:xfrm>
            <a:off x="3383280" y="1051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string</a:t>
            </a:r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SimpleSignedDocument-v1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8412480" cy="393192"/>
          </a:xfrm>
          <a:prstGeom prst="rect">
            <a:avLst/>
          </a:prstGeom>
          <a:solidFill>
            <a:srgbClr val="0F2030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Signer ID</a:t>
            </a:r>
          </a:p>
        </p:txBody>
      </p:sp>
      <p:sp>
        <p:nvSpPr>
          <p:cNvPr id="12" name="Text 10"/>
          <p:cNvSpPr/>
          <p:nvPr/>
        </p:nvSpPr>
        <p:spPr>
          <a:xfrm>
            <a:off x="338328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string</a:t>
            </a:r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Selects the public key for verification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393192"/>
          </a:xfrm>
          <a:prstGeom prst="rect">
            <a:avLst/>
          </a:prstGeom>
          <a:solidFill>
            <a:srgbClr val="1B2A3B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1819656"/>
            <a:ext cx="109728" cy="3931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1911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Data</a:t>
            </a:r>
          </a:p>
        </p:txBody>
      </p:sp>
      <p:sp>
        <p:nvSpPr>
          <p:cNvPr id="17" name="Text 15"/>
          <p:cNvSpPr/>
          <p:nvPr/>
        </p:nvSpPr>
        <p:spPr>
          <a:xfrm>
            <a:off x="3383280" y="1911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base64</a:t>
            </a:r>
          </a:p>
        </p:txBody>
      </p:sp>
      <p:sp>
        <p:nvSpPr>
          <p:cNvPr id="18" name="Text 16"/>
          <p:cNvSpPr/>
          <p:nvPr/>
        </p:nvSpPr>
        <p:spPr>
          <a:xfrm>
            <a:off x="4846320" y="1911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Plain document bytes encoded for JSON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8412480" cy="393192"/>
          </a:xfrm>
          <a:prstGeom prst="rect">
            <a:avLst/>
          </a:prstGeom>
          <a:solidFill>
            <a:srgbClr val="0F2030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249424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23408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Hash</a:t>
            </a:r>
          </a:p>
        </p:txBody>
      </p:sp>
      <p:sp>
        <p:nvSpPr>
          <p:cNvPr id="22" name="Text 20"/>
          <p:cNvSpPr/>
          <p:nvPr/>
        </p:nvSpPr>
        <p:spPr>
          <a:xfrm>
            <a:off x="3383280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64 hex chars</a:t>
            </a:r>
          </a:p>
        </p:txBody>
      </p:sp>
      <p:sp>
        <p:nvSpPr>
          <p:cNvPr id="23" name="Text 21"/>
          <p:cNvSpPr/>
          <p:nvPr/>
        </p:nvSpPr>
        <p:spPr>
          <a:xfrm>
            <a:off x="4846320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SHA-256 digest of document bytes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2679192"/>
            <a:ext cx="8412480" cy="393192"/>
          </a:xfrm>
          <a:prstGeom prst="rect">
            <a:avLst/>
          </a:prstGeom>
          <a:solidFill>
            <a:srgbClr val="1B2A3B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2679192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2770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Signature</a:t>
            </a:r>
          </a:p>
        </p:txBody>
      </p:sp>
      <p:sp>
        <p:nvSpPr>
          <p:cNvPr id="27" name="Text 25"/>
          <p:cNvSpPr/>
          <p:nvPr/>
        </p:nvSpPr>
        <p:spPr>
          <a:xfrm>
            <a:off x="3383280" y="2770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base64</a:t>
            </a:r>
          </a:p>
        </p:txBody>
      </p:sp>
      <p:sp>
        <p:nvSpPr>
          <p:cNvPr id="28" name="Text 26"/>
          <p:cNvSpPr/>
          <p:nvPr/>
        </p:nvSpPr>
        <p:spPr>
          <a:xfrm>
            <a:off x="4846320" y="2770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RSA-PSS signature over the document hash</a:t>
            </a:r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93192"/>
          </a:xfrm>
          <a:prstGeom prst="rect">
            <a:avLst/>
          </a:prstGeom>
          <a:solidFill>
            <a:srgbClr val="0F2030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109728" cy="3931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6928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Algorithm Info</a:t>
            </a:r>
          </a:p>
        </p:txBody>
      </p:sp>
      <p:sp>
        <p:nvSpPr>
          <p:cNvPr id="32" name="Text 30"/>
          <p:cNvSpPr/>
          <p:nvPr/>
        </p:nvSpPr>
        <p:spPr>
          <a:xfrm>
            <a:off x="338328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object</a:t>
            </a:r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Hash, signature type, key size, public key file</a:t>
            </a:r>
          </a:p>
        </p:txBody>
      </p:sp>
      <p:sp>
        <p:nvSpPr>
          <p:cNvPr id="34" name="Shape 32"/>
          <p:cNvSpPr/>
          <p:nvPr/>
        </p:nvSpPr>
        <p:spPr>
          <a:xfrm>
            <a:off x="365760" y="3538728"/>
            <a:ext cx="8412480" cy="393192"/>
          </a:xfrm>
          <a:prstGeom prst="rect">
            <a:avLst/>
          </a:prstGeom>
          <a:solidFill>
            <a:srgbClr val="1B2A3B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3538728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6928" y="36301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Timestamp</a:t>
            </a:r>
          </a:p>
        </p:txBody>
      </p:sp>
      <p:sp>
        <p:nvSpPr>
          <p:cNvPr id="37" name="Text 35"/>
          <p:cNvSpPr/>
          <p:nvPr/>
        </p:nvSpPr>
        <p:spPr>
          <a:xfrm>
            <a:off x="338328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string</a:t>
            </a:r>
          </a:p>
        </p:txBody>
      </p:sp>
      <p:sp>
        <p:nvSpPr>
          <p:cNvPr id="38" name="Text 36"/>
          <p:cNvSpPr/>
          <p:nvPr/>
        </p:nvSpPr>
        <p:spPr>
          <a:xfrm>
            <a:off x="4846320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Included for display; not trusted authority time</a:t>
            </a:r>
          </a:p>
        </p:txBody>
      </p:sp>
      <p:sp>
        <p:nvSpPr>
          <p:cNvPr id="39" name="Shape 37"/>
          <p:cNvSpPr/>
          <p:nvPr/>
        </p:nvSpPr>
        <p:spPr>
          <a:xfrm>
            <a:off x="365760" y="3968496"/>
            <a:ext cx="8412480" cy="393192"/>
          </a:xfrm>
          <a:prstGeom prst="rect">
            <a:avLst/>
          </a:prstGeom>
          <a:solidFill>
            <a:srgbClr val="0F2030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65760" y="3968496"/>
            <a:ext cx="109728" cy="3931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6928" y="4059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Public Key File</a:t>
            </a:r>
          </a:p>
        </p:txBody>
      </p:sp>
      <p:sp>
        <p:nvSpPr>
          <p:cNvPr id="42" name="Text 40"/>
          <p:cNvSpPr/>
          <p:nvPr/>
        </p:nvSpPr>
        <p:spPr>
          <a:xfrm>
            <a:off x="3383280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string</a:t>
            </a:r>
          </a:p>
        </p:txBody>
      </p:sp>
      <p:sp>
        <p:nvSpPr>
          <p:cNvPr id="43" name="Text 41"/>
          <p:cNvSpPr/>
          <p:nvPr/>
        </p:nvSpPr>
        <p:spPr>
          <a:xfrm>
            <a:off x="484632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Example: ehab_public_key.pem</a:t>
            </a:r>
          </a:p>
        </p:txBody>
      </p:sp>
      <p:sp>
        <p:nvSpPr>
          <p:cNvPr id="44" name="Shape 42"/>
          <p:cNvSpPr/>
          <p:nvPr/>
        </p:nvSpPr>
        <p:spPr>
          <a:xfrm>
            <a:off x="365760" y="4398264"/>
            <a:ext cx="8412480" cy="393192"/>
          </a:xfrm>
          <a:prstGeom prst="rect">
            <a:avLst/>
          </a:prstGeom>
          <a:solidFill>
            <a:srgbClr val="1B2A3B"/>
          </a:solidFill>
          <a:ln w="6350">
            <a:solidFill>
              <a:srgbClr val="0F20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5760" y="4398264"/>
            <a:ext cx="109728" cy="3931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6928" y="4489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Verification Result</a:t>
            </a:r>
          </a:p>
        </p:txBody>
      </p:sp>
      <p:sp>
        <p:nvSpPr>
          <p:cNvPr id="47" name="Text 45"/>
          <p:cNvSpPr/>
          <p:nvPr/>
        </p:nvSpPr>
        <p:spPr>
          <a:xfrm>
            <a:off x="3383280" y="4489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accept/reject</a:t>
            </a:r>
          </a:p>
        </p:txBody>
      </p:sp>
      <p:sp>
        <p:nvSpPr>
          <p:cNvPr id="48" name="Text 46"/>
          <p:cNvSpPr/>
          <p:nvPr/>
        </p:nvSpPr>
        <p:spPr>
          <a:xfrm>
            <a:off x="4846320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Partial or silent verification is not allowed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Test Results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69164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Key Generation</a:t>
            </a:r>
          </a:p>
        </p:txBody>
      </p:sp>
      <p:sp>
        <p:nvSpPr>
          <p:cNvPr id="8" name="Text 6"/>
          <p:cNvSpPr/>
          <p:nvPr/>
        </p:nvSpPr>
        <p:spPr>
          <a:xfrm>
            <a:off x="1691640" y="130759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RSA-2048 key pairs generated for signer and wrong-user test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91640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Valid Signature</a:t>
            </a:r>
          </a:p>
        </p:txBody>
      </p:sp>
      <p:sp>
        <p:nvSpPr>
          <p:cNvPr id="13" name="Text 11"/>
          <p:cNvSpPr/>
          <p:nvPr/>
        </p:nvSpPr>
        <p:spPr>
          <a:xfrm>
            <a:off x="1691640" y="196596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Original document + correct public key -&gt; verification succeeds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9164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Tampering</a:t>
            </a:r>
          </a:p>
        </p:txBody>
      </p:sp>
      <p:sp>
        <p:nvSpPr>
          <p:cNvPr id="18" name="Text 16"/>
          <p:cNvSpPr/>
          <p:nvPr/>
        </p:nvSpPr>
        <p:spPr>
          <a:xfrm>
            <a:off x="1691640" y="262432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Document bytes changed inside package -&gt; verification fails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145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Wrong Public Key</a:t>
            </a:r>
          </a:p>
        </p:txBody>
      </p:sp>
      <p:sp>
        <p:nvSpPr>
          <p:cNvPr id="23" name="Text 21"/>
          <p:cNvSpPr/>
          <p:nvPr/>
        </p:nvSpPr>
        <p:spPr>
          <a:xfrm>
            <a:off x="1691640" y="328269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Correct document checked with another user's key -&gt; verification fails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639312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803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91640" y="3685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Signature Tampering</a:t>
            </a:r>
          </a:p>
        </p:txBody>
      </p:sp>
      <p:sp>
        <p:nvSpPr>
          <p:cNvPr id="28" name="Text 26"/>
          <p:cNvSpPr/>
          <p:nvPr/>
        </p:nvSpPr>
        <p:spPr>
          <a:xfrm>
            <a:off x="1691640" y="394106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One signature bit changed -&gt; verification fails</a:t>
            </a:r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297680"/>
            <a:ext cx="1188720" cy="56692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9164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Simple Run</a:t>
            </a:r>
          </a:p>
        </p:txBody>
      </p:sp>
      <p:sp>
        <p:nvSpPr>
          <p:cNvPr id="33" name="Text 31"/>
          <p:cNvSpPr/>
          <p:nvPr/>
        </p:nvSpPr>
        <p:spPr>
          <a:xfrm>
            <a:off x="1691640" y="459943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solidFill>
                  <a:schemeClr val="bg1">
                    <a:lumMod val="95000"/>
                  </a:schemeClr>
                </a:solidFill>
              </a:rPr>
              <a:t>Run once with: python Crypto_Project.py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0058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85216" cy="5852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Mohamed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20231160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System Architecture &amp; Lead Developer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60520" cy="10058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85216" cy="5852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Talal Yousif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42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20236211</a:t>
            </a:r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Cryptographic Module Engineer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60520" cy="10058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85216" cy="585216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Ashraf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8770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20232630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Key Management &amp; Security Analyst</a:t>
            </a:r>
          </a:p>
        </p:txBody>
      </p:sp>
      <p:sp>
        <p:nvSpPr>
          <p:cNvPr id="22" name="Shape 20"/>
          <p:cNvSpPr/>
          <p:nvPr/>
        </p:nvSpPr>
        <p:spPr>
          <a:xfrm>
            <a:off x="4937760" y="1005840"/>
            <a:ext cx="4160520" cy="10058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640" y="1188720"/>
            <a:ext cx="585216" cy="5852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1216152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978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Ehab Abdelaziz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14081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20233068</a:t>
            </a:r>
          </a:p>
        </p:txBody>
      </p:sp>
      <p:sp>
        <p:nvSpPr>
          <p:cNvPr id="27" name="Text 25"/>
          <p:cNvSpPr/>
          <p:nvPr/>
        </p:nvSpPr>
        <p:spPr>
          <a:xfrm>
            <a:off x="5897880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Testing &amp; Verification Engineer</a:t>
            </a:r>
          </a:p>
        </p:txBody>
      </p:sp>
      <p:sp>
        <p:nvSpPr>
          <p:cNvPr id="28" name="Shape 26"/>
          <p:cNvSpPr/>
          <p:nvPr/>
        </p:nvSpPr>
        <p:spPr>
          <a:xfrm>
            <a:off x="4937760" y="2240280"/>
            <a:ext cx="4160520" cy="1005840"/>
          </a:xfrm>
          <a:prstGeom prst="rect">
            <a:avLst/>
          </a:prstGeom>
          <a:solidFill>
            <a:srgbClr val="1B2A3B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20640" y="2423160"/>
            <a:ext cx="585216" cy="5852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2450592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9788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Yousif Montasser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97880" y="257175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20236209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Documentation &amp; Presentation Lead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74904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971800"/>
            <a:ext cx="7315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3108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Digital signatures prove authenticity without hiding the document</a:t>
            </a:r>
          </a:p>
        </p:txBody>
      </p:sp>
      <p:sp>
        <p:nvSpPr>
          <p:cNvPr id="7" name="Text 4"/>
          <p:cNvSpPr/>
          <p:nvPr/>
        </p:nvSpPr>
        <p:spPr>
          <a:xfrm>
            <a:off x="1097280" y="34564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SHA-256 detects any document modification</a:t>
            </a:r>
          </a:p>
        </p:txBody>
      </p:sp>
      <p:sp>
        <p:nvSpPr>
          <p:cNvPr id="8" name="Text 5"/>
          <p:cNvSpPr/>
          <p:nvPr/>
        </p:nvSpPr>
        <p:spPr>
          <a:xfrm>
            <a:off x="1097280" y="38039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RSA-PSS links the signature to the private key holder</a:t>
            </a:r>
          </a:p>
        </p:txBody>
      </p:sp>
      <p:sp>
        <p:nvSpPr>
          <p:cNvPr id="9" name="Text 6"/>
          <p:cNvSpPr/>
          <p:nvPr/>
        </p:nvSpPr>
        <p:spPr>
          <a:xfrm>
            <a:off x="1097280" y="415137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Verification fails for tampering, wrong keys, or changed signatures</a:t>
            </a:r>
          </a:p>
        </p:txBody>
      </p:sp>
      <p:sp>
        <p:nvSpPr>
          <p:cNvPr id="10" name="Text 7"/>
          <p:cNvSpPr/>
          <p:nvPr/>
        </p:nvSpPr>
        <p:spPr>
          <a:xfrm>
            <a:off x="1097280" y="44988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Confidentiality is intentionally not required for this project</a:t>
            </a:r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University in Egypt  ·  Cybersecurity Department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846</Words>
  <Application>Microsoft Office PowerPoint</Application>
  <PresentationFormat>On-screen Show (16:9)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Storage System – Hybrid Cryptography</dc:title>
  <dc:subject>PptxGenJS Presentation</dc:subject>
  <dc:creator>Future University in Egypt</dc:creator>
  <cp:lastModifiedBy>20231160 Khaled Mohamed Hamdy Ibrahim</cp:lastModifiedBy>
  <cp:revision>3</cp:revision>
  <dcterms:created xsi:type="dcterms:W3CDTF">2026-04-25T22:02:01Z</dcterms:created>
  <dcterms:modified xsi:type="dcterms:W3CDTF">2026-04-27T18:29:36Z</dcterms:modified>
</cp:coreProperties>
</file>